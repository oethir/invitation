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Noto Serif Bold" charset="1" panose="02020800060500020200"/>
      <p:regular r:id="rId18"/>
    </p:embeddedFont>
    <p:embeddedFont>
      <p:font typeface="Noto Serif Italics" charset="1" panose="02020600060500090200"/>
      <p:regular r:id="rId19"/>
    </p:embeddedFont>
    <p:embeddedFont>
      <p:font typeface="Noto Sans" charset="1" panose="020B0502040504020204"/>
      <p:regular r:id="rId20"/>
    </p:embeddedFont>
    <p:embeddedFont>
      <p:font typeface="Noto Serif Bold Italics" charset="1" panose="02020800060500090200"/>
      <p:regular r:id="rId21"/>
    </p:embeddedFont>
    <p:embeddedFont>
      <p:font typeface="Noto Sans Bold" charset="1" panose="020B080204050402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4E0E0"/>
        </a:solidFill>
      </p:bgPr>
    </p:bg>
    <p:spTree>
      <p:nvGrpSpPr>
        <p:cNvPr id="1" name=""/>
        <p:cNvGrpSpPr/>
        <p:nvPr/>
      </p:nvGrpSpPr>
      <p:grpSpPr>
        <a:xfrm>
          <a:off x="0" y="0"/>
          <a:ext cx="0" cy="0"/>
          <a:chOff x="0" y="0"/>
          <a:chExt cx="0" cy="0"/>
        </a:xfrm>
      </p:grpSpPr>
      <p:sp>
        <p:nvSpPr>
          <p:cNvPr name="TextBox 2" id="2"/>
          <p:cNvSpPr txBox="true"/>
          <p:nvPr/>
        </p:nvSpPr>
        <p:spPr>
          <a:xfrm rot="0">
            <a:off x="1103652" y="3179358"/>
            <a:ext cx="7777937" cy="1871557"/>
          </a:xfrm>
          <a:prstGeom prst="rect">
            <a:avLst/>
          </a:prstGeom>
        </p:spPr>
        <p:txBody>
          <a:bodyPr anchor="t" rtlCol="false" tIns="0" lIns="0" bIns="0" rIns="0">
            <a:spAutoFit/>
          </a:bodyPr>
          <a:lstStyle/>
          <a:p>
            <a:pPr algn="l">
              <a:lnSpc>
                <a:spcPts val="15194"/>
              </a:lnSpc>
            </a:pPr>
            <a:r>
              <a:rPr lang="en-US" sz="11255" b="true">
                <a:solidFill>
                  <a:srgbClr val="000000"/>
                </a:solidFill>
                <a:latin typeface="Noto Serif Bold"/>
                <a:ea typeface="Noto Serif Bold"/>
                <a:cs typeface="Noto Serif Bold"/>
                <a:sym typeface="Noto Serif Bold"/>
              </a:rPr>
              <a:t>COLOR</a:t>
            </a:r>
          </a:p>
        </p:txBody>
      </p:sp>
      <p:sp>
        <p:nvSpPr>
          <p:cNvPr name="Freeform 3" id="3"/>
          <p:cNvSpPr/>
          <p:nvPr/>
        </p:nvSpPr>
        <p:spPr>
          <a:xfrm flipH="false" flipV="false" rot="0">
            <a:off x="8671143" y="6309720"/>
            <a:ext cx="4033154" cy="1588185"/>
          </a:xfrm>
          <a:custGeom>
            <a:avLst/>
            <a:gdLst/>
            <a:ahLst/>
            <a:cxnLst/>
            <a:rect r="r" b="b" t="t" l="l"/>
            <a:pathLst>
              <a:path h="1588185" w="4033154">
                <a:moveTo>
                  <a:pt x="0" y="0"/>
                </a:moveTo>
                <a:lnTo>
                  <a:pt x="4033153" y="0"/>
                </a:lnTo>
                <a:lnTo>
                  <a:pt x="4033153" y="1588185"/>
                </a:lnTo>
                <a:lnTo>
                  <a:pt x="0" y="158818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27925"/>
            </a:stretch>
          </a:blipFill>
        </p:spPr>
      </p:sp>
      <p:sp>
        <p:nvSpPr>
          <p:cNvPr name="TextBox 4" id="4"/>
          <p:cNvSpPr txBox="true"/>
          <p:nvPr/>
        </p:nvSpPr>
        <p:spPr>
          <a:xfrm rot="0">
            <a:off x="2119931" y="4434053"/>
            <a:ext cx="7024069" cy="1875667"/>
          </a:xfrm>
          <a:prstGeom prst="rect">
            <a:avLst/>
          </a:prstGeom>
        </p:spPr>
        <p:txBody>
          <a:bodyPr anchor="t" rtlCol="false" tIns="0" lIns="0" bIns="0" rIns="0">
            <a:spAutoFit/>
          </a:bodyPr>
          <a:lstStyle/>
          <a:p>
            <a:pPr algn="ctr">
              <a:lnSpc>
                <a:spcPts val="15195"/>
              </a:lnSpc>
              <a:spcBef>
                <a:spcPct val="0"/>
              </a:spcBef>
            </a:pPr>
            <a:r>
              <a:rPr lang="en-US" sz="11255" i="true">
                <a:solidFill>
                  <a:srgbClr val="000000"/>
                </a:solidFill>
                <a:latin typeface="Noto Serif Italics"/>
                <a:ea typeface="Noto Serif Italics"/>
                <a:cs typeface="Noto Serif Italics"/>
                <a:sym typeface="Noto Serif Italics"/>
              </a:rPr>
              <a:t>theory</a:t>
            </a:r>
          </a:p>
        </p:txBody>
      </p:sp>
      <p:sp>
        <p:nvSpPr>
          <p:cNvPr name="Freeform 5" id="5"/>
          <p:cNvSpPr/>
          <p:nvPr/>
        </p:nvSpPr>
        <p:spPr>
          <a:xfrm flipH="false" flipV="false" rot="0">
            <a:off x="14054614" y="4595978"/>
            <a:ext cx="5867065" cy="3232220"/>
          </a:xfrm>
          <a:custGeom>
            <a:avLst/>
            <a:gdLst/>
            <a:ahLst/>
            <a:cxnLst/>
            <a:rect r="r" b="b" t="t" l="l"/>
            <a:pathLst>
              <a:path h="3232220" w="5867065">
                <a:moveTo>
                  <a:pt x="0" y="0"/>
                </a:moveTo>
                <a:lnTo>
                  <a:pt x="5867065" y="0"/>
                </a:lnTo>
                <a:lnTo>
                  <a:pt x="5867065" y="3232220"/>
                </a:lnTo>
                <a:lnTo>
                  <a:pt x="0" y="32322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881589" y="6833185"/>
            <a:ext cx="3612260" cy="1990027"/>
          </a:xfrm>
          <a:custGeom>
            <a:avLst/>
            <a:gdLst/>
            <a:ahLst/>
            <a:cxnLst/>
            <a:rect r="r" b="b" t="t" l="l"/>
            <a:pathLst>
              <a:path h="1990027" w="3612260">
                <a:moveTo>
                  <a:pt x="0" y="0"/>
                </a:moveTo>
                <a:lnTo>
                  <a:pt x="3612261" y="0"/>
                </a:lnTo>
                <a:lnTo>
                  <a:pt x="3612261" y="1990026"/>
                </a:lnTo>
                <a:lnTo>
                  <a:pt x="0" y="19900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910059" y="740388"/>
            <a:ext cx="576625" cy="576625"/>
          </a:xfrm>
          <a:custGeom>
            <a:avLst/>
            <a:gdLst/>
            <a:ahLst/>
            <a:cxnLst/>
            <a:rect r="r" b="b" t="t" l="l"/>
            <a:pathLst>
              <a:path h="576625" w="576625">
                <a:moveTo>
                  <a:pt x="0" y="0"/>
                </a:moveTo>
                <a:lnTo>
                  <a:pt x="576624" y="0"/>
                </a:lnTo>
                <a:lnTo>
                  <a:pt x="576624" y="576624"/>
                </a:lnTo>
                <a:lnTo>
                  <a:pt x="0" y="5766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325379" y="8387570"/>
            <a:ext cx="870730" cy="870730"/>
          </a:xfrm>
          <a:custGeom>
            <a:avLst/>
            <a:gdLst/>
            <a:ahLst/>
            <a:cxnLst/>
            <a:rect r="r" b="b" t="t" l="l"/>
            <a:pathLst>
              <a:path h="870730" w="870730">
                <a:moveTo>
                  <a:pt x="0" y="0"/>
                </a:moveTo>
                <a:lnTo>
                  <a:pt x="870730" y="0"/>
                </a:lnTo>
                <a:lnTo>
                  <a:pt x="870730" y="870730"/>
                </a:lnTo>
                <a:lnTo>
                  <a:pt x="0" y="8707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7910059" y="-45014"/>
            <a:ext cx="9979620" cy="5497864"/>
            <a:chOff x="0" y="0"/>
            <a:chExt cx="13306160" cy="7330485"/>
          </a:xfrm>
        </p:grpSpPr>
        <p:sp>
          <p:nvSpPr>
            <p:cNvPr name="Freeform 10" id="10"/>
            <p:cNvSpPr/>
            <p:nvPr/>
          </p:nvSpPr>
          <p:spPr>
            <a:xfrm flipH="false" flipV="false" rot="0">
              <a:off x="0" y="0"/>
              <a:ext cx="13306160" cy="7330485"/>
            </a:xfrm>
            <a:custGeom>
              <a:avLst/>
              <a:gdLst/>
              <a:ahLst/>
              <a:cxnLst/>
              <a:rect r="r" b="b" t="t" l="l"/>
              <a:pathLst>
                <a:path h="7330485" w="13306160">
                  <a:moveTo>
                    <a:pt x="0" y="0"/>
                  </a:moveTo>
                  <a:lnTo>
                    <a:pt x="13306160" y="0"/>
                  </a:lnTo>
                  <a:lnTo>
                    <a:pt x="13306160" y="7330485"/>
                  </a:lnTo>
                  <a:lnTo>
                    <a:pt x="0" y="73304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3909880" y="922042"/>
              <a:ext cx="5486400" cy="5486400"/>
            </a:xfrm>
            <a:custGeom>
              <a:avLst/>
              <a:gdLst/>
              <a:ahLst/>
              <a:cxnLst/>
              <a:rect r="r" b="b" t="t" l="l"/>
              <a:pathLst>
                <a:path h="5486400" w="5486400">
                  <a:moveTo>
                    <a:pt x="0" y="0"/>
                  </a:moveTo>
                  <a:lnTo>
                    <a:pt x="5486400" y="0"/>
                  </a:lnTo>
                  <a:lnTo>
                    <a:pt x="5486400" y="5486400"/>
                  </a:lnTo>
                  <a:lnTo>
                    <a:pt x="0" y="54864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2" id="12"/>
            <p:cNvGrpSpPr/>
            <p:nvPr/>
          </p:nvGrpSpPr>
          <p:grpSpPr>
            <a:xfrm rot="0">
              <a:off x="5507482" y="2519644"/>
              <a:ext cx="2291196" cy="229119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4" id="14"/>
              <p:cNvSpPr txBox="true"/>
              <p:nvPr/>
            </p:nvSpPr>
            <p:spPr>
              <a:xfrm>
                <a:off x="76200" y="85725"/>
                <a:ext cx="660400" cy="650875"/>
              </a:xfrm>
              <a:prstGeom prst="rect">
                <a:avLst/>
              </a:prstGeom>
            </p:spPr>
            <p:txBody>
              <a:bodyPr anchor="ctr" rtlCol="false" tIns="50800" lIns="50800" bIns="50800" rIns="50800"/>
              <a:lstStyle/>
              <a:p>
                <a:pPr algn="ctr">
                  <a:lnSpc>
                    <a:spcPts val="1772"/>
                  </a:lnSpc>
                </a:pPr>
              </a:p>
            </p:txBody>
          </p:sp>
        </p:grpSp>
      </p:grpSp>
      <p:grpSp>
        <p:nvGrpSpPr>
          <p:cNvPr name="Group 15" id="15"/>
          <p:cNvGrpSpPr/>
          <p:nvPr/>
        </p:nvGrpSpPr>
        <p:grpSpPr>
          <a:xfrm rot="0">
            <a:off x="15924010" y="5143500"/>
            <a:ext cx="2128273" cy="2128273"/>
            <a:chOff x="0" y="0"/>
            <a:chExt cx="2837697" cy="2837697"/>
          </a:xfrm>
        </p:grpSpPr>
        <p:sp>
          <p:nvSpPr>
            <p:cNvPr name="Freeform 16" id="16"/>
            <p:cNvSpPr/>
            <p:nvPr/>
          </p:nvSpPr>
          <p:spPr>
            <a:xfrm flipH="false" flipV="false" rot="0">
              <a:off x="0" y="0"/>
              <a:ext cx="2837697" cy="2837697"/>
            </a:xfrm>
            <a:custGeom>
              <a:avLst/>
              <a:gdLst/>
              <a:ahLst/>
              <a:cxnLst/>
              <a:rect r="r" b="b" t="t" l="l"/>
              <a:pathLst>
                <a:path h="2837697" w="2837697">
                  <a:moveTo>
                    <a:pt x="0" y="0"/>
                  </a:moveTo>
                  <a:lnTo>
                    <a:pt x="2837697" y="0"/>
                  </a:lnTo>
                  <a:lnTo>
                    <a:pt x="2837697" y="2837697"/>
                  </a:lnTo>
                  <a:lnTo>
                    <a:pt x="0" y="28376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7" id="17"/>
            <p:cNvGrpSpPr/>
            <p:nvPr/>
          </p:nvGrpSpPr>
          <p:grpSpPr>
            <a:xfrm rot="0">
              <a:off x="826318" y="826318"/>
              <a:ext cx="1185061" cy="118506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9" id="19"/>
              <p:cNvSpPr txBox="true"/>
              <p:nvPr/>
            </p:nvSpPr>
            <p:spPr>
              <a:xfrm>
                <a:off x="76200" y="85725"/>
                <a:ext cx="660400" cy="650875"/>
              </a:xfrm>
              <a:prstGeom prst="rect">
                <a:avLst/>
              </a:prstGeom>
            </p:spPr>
            <p:txBody>
              <a:bodyPr anchor="ctr" rtlCol="false" tIns="50800" lIns="50800" bIns="50800" rIns="50800"/>
              <a:lstStyle/>
              <a:p>
                <a:pPr algn="ctr">
                  <a:lnSpc>
                    <a:spcPts val="1772"/>
                  </a:lnSpc>
                </a:pPr>
              </a:p>
            </p:txBody>
          </p:sp>
        </p:grpSp>
      </p:grpSp>
      <p:grpSp>
        <p:nvGrpSpPr>
          <p:cNvPr name="Group 20" id="20"/>
          <p:cNvGrpSpPr/>
          <p:nvPr/>
        </p:nvGrpSpPr>
        <p:grpSpPr>
          <a:xfrm rot="0">
            <a:off x="9969632" y="7110111"/>
            <a:ext cx="1436174" cy="1436174"/>
            <a:chOff x="0" y="0"/>
            <a:chExt cx="1914899" cy="1914899"/>
          </a:xfrm>
        </p:grpSpPr>
        <p:sp>
          <p:nvSpPr>
            <p:cNvPr name="Freeform 21" id="21"/>
            <p:cNvSpPr/>
            <p:nvPr/>
          </p:nvSpPr>
          <p:spPr>
            <a:xfrm flipH="false" flipV="false" rot="0">
              <a:off x="0" y="0"/>
              <a:ext cx="1914899" cy="1914899"/>
            </a:xfrm>
            <a:custGeom>
              <a:avLst/>
              <a:gdLst/>
              <a:ahLst/>
              <a:cxnLst/>
              <a:rect r="r" b="b" t="t" l="l"/>
              <a:pathLst>
                <a:path h="1914899" w="1914899">
                  <a:moveTo>
                    <a:pt x="0" y="0"/>
                  </a:moveTo>
                  <a:lnTo>
                    <a:pt x="1914899" y="0"/>
                  </a:lnTo>
                  <a:lnTo>
                    <a:pt x="1914899" y="1914899"/>
                  </a:lnTo>
                  <a:lnTo>
                    <a:pt x="0" y="19148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557606" y="557606"/>
              <a:ext cx="799688" cy="799688"/>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4" id="24"/>
              <p:cNvSpPr txBox="true"/>
              <p:nvPr/>
            </p:nvSpPr>
            <p:spPr>
              <a:xfrm>
                <a:off x="76200" y="85725"/>
                <a:ext cx="660400" cy="650875"/>
              </a:xfrm>
              <a:prstGeom prst="rect">
                <a:avLst/>
              </a:prstGeom>
            </p:spPr>
            <p:txBody>
              <a:bodyPr anchor="ctr" rtlCol="false" tIns="50800" lIns="50800" bIns="50800" rIns="50800"/>
              <a:lstStyle/>
              <a:p>
                <a:pPr algn="ctr">
                  <a:lnSpc>
                    <a:spcPts val="1772"/>
                  </a:lnSpc>
                </a:pPr>
              </a:p>
            </p:txBody>
          </p:sp>
        </p:grpSp>
      </p:grpSp>
      <p:sp>
        <p:nvSpPr>
          <p:cNvPr name="TextBox 25" id="25"/>
          <p:cNvSpPr txBox="true"/>
          <p:nvPr/>
        </p:nvSpPr>
        <p:spPr>
          <a:xfrm rot="0">
            <a:off x="1028700" y="9002060"/>
            <a:ext cx="5841061" cy="225633"/>
          </a:xfrm>
          <a:prstGeom prst="rect">
            <a:avLst/>
          </a:prstGeom>
        </p:spPr>
        <p:txBody>
          <a:bodyPr anchor="t" rtlCol="false" tIns="0" lIns="0" bIns="0" rIns="0">
            <a:spAutoFit/>
          </a:bodyPr>
          <a:lstStyle/>
          <a:p>
            <a:pPr algn="l">
              <a:lnSpc>
                <a:spcPts val="1772"/>
              </a:lnSpc>
            </a:pPr>
            <a:r>
              <a:rPr lang="en-US" sz="1582" spc="406">
                <a:solidFill>
                  <a:srgbClr val="000000"/>
                </a:solidFill>
                <a:latin typeface="Noto Sans"/>
                <a:ea typeface="Noto Sans"/>
                <a:cs typeface="Noto Sans"/>
                <a:sym typeface="Noto Sans"/>
              </a:rPr>
              <a:t>WWW.REALLYGREATSITE.COM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4E0E0"/>
        </a:solidFill>
      </p:bgPr>
    </p:bg>
    <p:spTree>
      <p:nvGrpSpPr>
        <p:cNvPr id="1" name=""/>
        <p:cNvGrpSpPr/>
        <p:nvPr/>
      </p:nvGrpSpPr>
      <p:grpSpPr>
        <a:xfrm>
          <a:off x="0" y="0"/>
          <a:ext cx="0" cy="0"/>
          <a:chOff x="0" y="0"/>
          <a:chExt cx="0" cy="0"/>
        </a:xfrm>
      </p:grpSpPr>
      <p:sp>
        <p:nvSpPr>
          <p:cNvPr name="TextBox 2" id="2"/>
          <p:cNvSpPr txBox="true"/>
          <p:nvPr/>
        </p:nvSpPr>
        <p:spPr>
          <a:xfrm rot="0">
            <a:off x="3004573" y="3477867"/>
            <a:ext cx="8116911" cy="3662926"/>
          </a:xfrm>
          <a:prstGeom prst="rect">
            <a:avLst/>
          </a:prstGeom>
        </p:spPr>
        <p:txBody>
          <a:bodyPr anchor="t" rtlCol="false" tIns="0" lIns="0" bIns="0" rIns="0">
            <a:spAutoFit/>
          </a:bodyPr>
          <a:lstStyle/>
          <a:p>
            <a:pPr algn="l">
              <a:lnSpc>
                <a:spcPts val="4935"/>
              </a:lnSpc>
            </a:pPr>
            <a:r>
              <a:rPr lang="en-US" sz="2772">
                <a:solidFill>
                  <a:srgbClr val="000000"/>
                </a:solidFill>
                <a:latin typeface="Noto Sans"/>
                <a:ea typeface="Noto Sans"/>
                <a:cs typeface="Noto Sans"/>
                <a:sym typeface="Noto Sans"/>
              </a:rPr>
              <a:t>Color theory is a fundamental concept in the art world. It helps artists understand the principles of color interaction and how to use them effectively in their work. In this presentation, we will explore the basics of color theory and how it can be applied in creating visually stunning art</a:t>
            </a:r>
          </a:p>
        </p:txBody>
      </p:sp>
      <p:sp>
        <p:nvSpPr>
          <p:cNvPr name="TextBox 3" id="3"/>
          <p:cNvSpPr txBox="true"/>
          <p:nvPr/>
        </p:nvSpPr>
        <p:spPr>
          <a:xfrm rot="0">
            <a:off x="1345403" y="2326524"/>
            <a:ext cx="9121393" cy="1024693"/>
          </a:xfrm>
          <a:prstGeom prst="rect">
            <a:avLst/>
          </a:prstGeom>
        </p:spPr>
        <p:txBody>
          <a:bodyPr anchor="t" rtlCol="false" tIns="0" lIns="0" bIns="0" rIns="0">
            <a:spAutoFit/>
          </a:bodyPr>
          <a:lstStyle/>
          <a:p>
            <a:pPr algn="l">
              <a:lnSpc>
                <a:spcPts val="8383"/>
              </a:lnSpc>
              <a:spcBef>
                <a:spcPct val="0"/>
              </a:spcBef>
            </a:pPr>
            <a:r>
              <a:rPr lang="en-US" b="true" sz="6210" i="true">
                <a:solidFill>
                  <a:srgbClr val="000000"/>
                </a:solidFill>
                <a:latin typeface="Noto Serif Bold Italics"/>
                <a:ea typeface="Noto Serif Bold Italics"/>
                <a:cs typeface="Noto Serif Bold Italics"/>
                <a:sym typeface="Noto Serif Bold Italics"/>
              </a:rPr>
              <a:t>Introduction</a:t>
            </a:r>
          </a:p>
        </p:txBody>
      </p:sp>
      <p:sp>
        <p:nvSpPr>
          <p:cNvPr name="Freeform 4" id="4"/>
          <p:cNvSpPr/>
          <p:nvPr/>
        </p:nvSpPr>
        <p:spPr>
          <a:xfrm flipH="false" flipV="false" rot="568680">
            <a:off x="6489187" y="-1018622"/>
            <a:ext cx="12780451" cy="4808645"/>
          </a:xfrm>
          <a:custGeom>
            <a:avLst/>
            <a:gdLst/>
            <a:ahLst/>
            <a:cxnLst/>
            <a:rect r="r" b="b" t="t" l="l"/>
            <a:pathLst>
              <a:path h="4808645" w="12780451">
                <a:moveTo>
                  <a:pt x="0" y="0"/>
                </a:moveTo>
                <a:lnTo>
                  <a:pt x="12780452" y="0"/>
                </a:lnTo>
                <a:lnTo>
                  <a:pt x="12780452" y="4808645"/>
                </a:lnTo>
                <a:lnTo>
                  <a:pt x="0" y="4808645"/>
                </a:lnTo>
                <a:lnTo>
                  <a:pt x="0" y="0"/>
                </a:lnTo>
                <a:close/>
              </a:path>
            </a:pathLst>
          </a:custGeom>
          <a:blipFill>
            <a:blip r:embed="rId2"/>
            <a:stretch>
              <a:fillRect l="0" t="0" r="0" b="0"/>
            </a:stretch>
          </a:blipFill>
        </p:spPr>
      </p:sp>
      <p:sp>
        <p:nvSpPr>
          <p:cNvPr name="Freeform 5" id="5"/>
          <p:cNvSpPr/>
          <p:nvPr/>
        </p:nvSpPr>
        <p:spPr>
          <a:xfrm flipH="true" flipV="true" rot="477803">
            <a:off x="-5361526" y="6247648"/>
            <a:ext cx="12780451" cy="4808645"/>
          </a:xfrm>
          <a:custGeom>
            <a:avLst/>
            <a:gdLst/>
            <a:ahLst/>
            <a:cxnLst/>
            <a:rect r="r" b="b" t="t" l="l"/>
            <a:pathLst>
              <a:path h="4808645" w="12780451">
                <a:moveTo>
                  <a:pt x="12780452" y="4808645"/>
                </a:moveTo>
                <a:lnTo>
                  <a:pt x="0" y="4808645"/>
                </a:lnTo>
                <a:lnTo>
                  <a:pt x="0" y="0"/>
                </a:lnTo>
                <a:lnTo>
                  <a:pt x="12780452" y="0"/>
                </a:lnTo>
                <a:lnTo>
                  <a:pt x="12780452" y="4808645"/>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4E0E0"/>
        </a:solidFill>
      </p:bgPr>
    </p:bg>
    <p:spTree>
      <p:nvGrpSpPr>
        <p:cNvPr id="1" name=""/>
        <p:cNvGrpSpPr/>
        <p:nvPr/>
      </p:nvGrpSpPr>
      <p:grpSpPr>
        <a:xfrm>
          <a:off x="0" y="0"/>
          <a:ext cx="0" cy="0"/>
          <a:chOff x="0" y="0"/>
          <a:chExt cx="0" cy="0"/>
        </a:xfrm>
      </p:grpSpPr>
      <p:sp>
        <p:nvSpPr>
          <p:cNvPr name="TextBox 2" id="2"/>
          <p:cNvSpPr txBox="true"/>
          <p:nvPr/>
        </p:nvSpPr>
        <p:spPr>
          <a:xfrm rot="0">
            <a:off x="1028700" y="3320705"/>
            <a:ext cx="8332776" cy="2743741"/>
          </a:xfrm>
          <a:prstGeom prst="rect">
            <a:avLst/>
          </a:prstGeom>
        </p:spPr>
        <p:txBody>
          <a:bodyPr anchor="t" rtlCol="false" tIns="0" lIns="0" bIns="0" rIns="0">
            <a:spAutoFit/>
          </a:bodyPr>
          <a:lstStyle/>
          <a:p>
            <a:pPr algn="l">
              <a:lnSpc>
                <a:spcPts val="5572"/>
              </a:lnSpc>
            </a:pPr>
            <a:r>
              <a:rPr lang="en-US" sz="2772">
                <a:solidFill>
                  <a:srgbClr val="000000"/>
                </a:solidFill>
                <a:latin typeface="Noto Sans"/>
                <a:ea typeface="Noto Sans"/>
                <a:cs typeface="Noto Sans"/>
                <a:sym typeface="Noto Sans"/>
              </a:rPr>
              <a:t>Color theory is the study of colors, their properties, and how they interact with one another. It helps artists create art that is visually appealing and harmonious</a:t>
            </a:r>
          </a:p>
        </p:txBody>
      </p:sp>
      <p:sp>
        <p:nvSpPr>
          <p:cNvPr name="TextBox 3" id="3"/>
          <p:cNvSpPr txBox="true"/>
          <p:nvPr/>
        </p:nvSpPr>
        <p:spPr>
          <a:xfrm rot="0">
            <a:off x="1028700" y="2083676"/>
            <a:ext cx="9580105" cy="1024693"/>
          </a:xfrm>
          <a:prstGeom prst="rect">
            <a:avLst/>
          </a:prstGeom>
        </p:spPr>
        <p:txBody>
          <a:bodyPr anchor="t" rtlCol="false" tIns="0" lIns="0" bIns="0" rIns="0">
            <a:spAutoFit/>
          </a:bodyPr>
          <a:lstStyle/>
          <a:p>
            <a:pPr algn="l">
              <a:lnSpc>
                <a:spcPts val="8383"/>
              </a:lnSpc>
              <a:spcBef>
                <a:spcPct val="0"/>
              </a:spcBef>
            </a:pPr>
            <a:r>
              <a:rPr lang="en-US" b="true" sz="6210" i="true">
                <a:solidFill>
                  <a:srgbClr val="000000"/>
                </a:solidFill>
                <a:latin typeface="Noto Serif Bold Italics"/>
                <a:ea typeface="Noto Serif Bold Italics"/>
                <a:cs typeface="Noto Serif Bold Italics"/>
                <a:sym typeface="Noto Serif Bold Italics"/>
              </a:rPr>
              <a:t>What is Color Theory?</a:t>
            </a:r>
          </a:p>
        </p:txBody>
      </p:sp>
      <p:grpSp>
        <p:nvGrpSpPr>
          <p:cNvPr name="Group 4" id="4"/>
          <p:cNvGrpSpPr/>
          <p:nvPr/>
        </p:nvGrpSpPr>
        <p:grpSpPr>
          <a:xfrm rot="0">
            <a:off x="8729168" y="5457825"/>
            <a:ext cx="6830737" cy="3763115"/>
            <a:chOff x="0" y="0"/>
            <a:chExt cx="9107649" cy="5017487"/>
          </a:xfrm>
        </p:grpSpPr>
        <p:sp>
          <p:nvSpPr>
            <p:cNvPr name="Freeform 5" id="5"/>
            <p:cNvSpPr/>
            <p:nvPr/>
          </p:nvSpPr>
          <p:spPr>
            <a:xfrm flipH="false" flipV="false" rot="0">
              <a:off x="0" y="0"/>
              <a:ext cx="9107649" cy="5017487"/>
            </a:xfrm>
            <a:custGeom>
              <a:avLst/>
              <a:gdLst/>
              <a:ahLst/>
              <a:cxnLst/>
              <a:rect r="r" b="b" t="t" l="l"/>
              <a:pathLst>
                <a:path h="5017487" w="9107649">
                  <a:moveTo>
                    <a:pt x="0" y="0"/>
                  </a:moveTo>
                  <a:lnTo>
                    <a:pt x="9107649" y="0"/>
                  </a:lnTo>
                  <a:lnTo>
                    <a:pt x="9107649" y="5017487"/>
                  </a:lnTo>
                  <a:lnTo>
                    <a:pt x="0" y="50174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676190" y="631109"/>
              <a:ext cx="3755269" cy="3755269"/>
            </a:xfrm>
            <a:custGeom>
              <a:avLst/>
              <a:gdLst/>
              <a:ahLst/>
              <a:cxnLst/>
              <a:rect r="r" b="b" t="t" l="l"/>
              <a:pathLst>
                <a:path h="3755269" w="3755269">
                  <a:moveTo>
                    <a:pt x="0" y="0"/>
                  </a:moveTo>
                  <a:lnTo>
                    <a:pt x="3755269" y="0"/>
                  </a:lnTo>
                  <a:lnTo>
                    <a:pt x="3755269" y="3755269"/>
                  </a:lnTo>
                  <a:lnTo>
                    <a:pt x="0" y="37552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3769699" y="1724618"/>
              <a:ext cx="1568252" cy="156825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9" id="9"/>
              <p:cNvSpPr txBox="true"/>
              <p:nvPr/>
            </p:nvSpPr>
            <p:spPr>
              <a:xfrm>
                <a:off x="76200" y="85725"/>
                <a:ext cx="660400" cy="650875"/>
              </a:xfrm>
              <a:prstGeom prst="rect">
                <a:avLst/>
              </a:prstGeom>
            </p:spPr>
            <p:txBody>
              <a:bodyPr anchor="ctr" rtlCol="false" tIns="50800" lIns="50800" bIns="50800" rIns="50800"/>
              <a:lstStyle/>
              <a:p>
                <a:pPr algn="ctr">
                  <a:lnSpc>
                    <a:spcPts val="1772"/>
                  </a:lnSpc>
                </a:pPr>
              </a:p>
            </p:txBody>
          </p:sp>
        </p:grpSp>
      </p:grpSp>
      <p:grpSp>
        <p:nvGrpSpPr>
          <p:cNvPr name="Group 10" id="10"/>
          <p:cNvGrpSpPr/>
          <p:nvPr/>
        </p:nvGrpSpPr>
        <p:grpSpPr>
          <a:xfrm rot="0">
            <a:off x="11314873" y="1028700"/>
            <a:ext cx="2488991" cy="1371208"/>
            <a:chOff x="0" y="0"/>
            <a:chExt cx="3318654" cy="1828277"/>
          </a:xfrm>
        </p:grpSpPr>
        <p:sp>
          <p:nvSpPr>
            <p:cNvPr name="Freeform 11" id="11"/>
            <p:cNvSpPr/>
            <p:nvPr/>
          </p:nvSpPr>
          <p:spPr>
            <a:xfrm flipH="false" flipV="false" rot="0">
              <a:off x="0" y="0"/>
              <a:ext cx="3318654" cy="1828277"/>
            </a:xfrm>
            <a:custGeom>
              <a:avLst/>
              <a:gdLst/>
              <a:ahLst/>
              <a:cxnLst/>
              <a:rect r="r" b="b" t="t" l="l"/>
              <a:pathLst>
                <a:path h="1828277" w="3318654">
                  <a:moveTo>
                    <a:pt x="0" y="0"/>
                  </a:moveTo>
                  <a:lnTo>
                    <a:pt x="3318654" y="0"/>
                  </a:lnTo>
                  <a:lnTo>
                    <a:pt x="3318654" y="1828277"/>
                  </a:lnTo>
                  <a:lnTo>
                    <a:pt x="0" y="18282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75153" y="229964"/>
              <a:ext cx="1368349" cy="1368349"/>
            </a:xfrm>
            <a:custGeom>
              <a:avLst/>
              <a:gdLst/>
              <a:ahLst/>
              <a:cxnLst/>
              <a:rect r="r" b="b" t="t" l="l"/>
              <a:pathLst>
                <a:path h="1368349" w="1368349">
                  <a:moveTo>
                    <a:pt x="0" y="0"/>
                  </a:moveTo>
                  <a:lnTo>
                    <a:pt x="1368349" y="0"/>
                  </a:lnTo>
                  <a:lnTo>
                    <a:pt x="1368349" y="1368349"/>
                  </a:lnTo>
                  <a:lnTo>
                    <a:pt x="0" y="13683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1373607" y="628418"/>
              <a:ext cx="571441" cy="57144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5" id="15"/>
              <p:cNvSpPr txBox="true"/>
              <p:nvPr/>
            </p:nvSpPr>
            <p:spPr>
              <a:xfrm>
                <a:off x="76200" y="85725"/>
                <a:ext cx="660400" cy="650875"/>
              </a:xfrm>
              <a:prstGeom prst="rect">
                <a:avLst/>
              </a:prstGeom>
            </p:spPr>
            <p:txBody>
              <a:bodyPr anchor="ctr" rtlCol="false" tIns="50800" lIns="50800" bIns="50800" rIns="50800"/>
              <a:lstStyle/>
              <a:p>
                <a:pPr algn="ctr">
                  <a:lnSpc>
                    <a:spcPts val="1772"/>
                  </a:lnSpc>
                </a:pPr>
              </a:p>
            </p:txBody>
          </p:sp>
        </p:grpSp>
      </p:grpSp>
      <p:grpSp>
        <p:nvGrpSpPr>
          <p:cNvPr name="Group 16" id="16"/>
          <p:cNvGrpSpPr/>
          <p:nvPr/>
        </p:nvGrpSpPr>
        <p:grpSpPr>
          <a:xfrm rot="0">
            <a:off x="12857547" y="2718534"/>
            <a:ext cx="4401753" cy="2424966"/>
            <a:chOff x="0" y="0"/>
            <a:chExt cx="5869004" cy="3233288"/>
          </a:xfrm>
        </p:grpSpPr>
        <p:sp>
          <p:nvSpPr>
            <p:cNvPr name="Freeform 17" id="17"/>
            <p:cNvSpPr/>
            <p:nvPr/>
          </p:nvSpPr>
          <p:spPr>
            <a:xfrm flipH="false" flipV="false" rot="0">
              <a:off x="0" y="0"/>
              <a:ext cx="5869004" cy="3233288"/>
            </a:xfrm>
            <a:custGeom>
              <a:avLst/>
              <a:gdLst/>
              <a:ahLst/>
              <a:cxnLst/>
              <a:rect r="r" b="b" t="t" l="l"/>
              <a:pathLst>
                <a:path h="3233288" w="5869004">
                  <a:moveTo>
                    <a:pt x="0" y="0"/>
                  </a:moveTo>
                  <a:lnTo>
                    <a:pt x="5869004" y="0"/>
                  </a:lnTo>
                  <a:lnTo>
                    <a:pt x="5869004" y="3233288"/>
                  </a:lnTo>
                  <a:lnTo>
                    <a:pt x="0" y="32332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724547" y="406689"/>
              <a:ext cx="2419910" cy="2419910"/>
            </a:xfrm>
            <a:custGeom>
              <a:avLst/>
              <a:gdLst/>
              <a:ahLst/>
              <a:cxnLst/>
              <a:rect r="r" b="b" t="t" l="l"/>
              <a:pathLst>
                <a:path h="2419910" w="2419910">
                  <a:moveTo>
                    <a:pt x="0" y="0"/>
                  </a:moveTo>
                  <a:lnTo>
                    <a:pt x="2419910" y="0"/>
                  </a:lnTo>
                  <a:lnTo>
                    <a:pt x="2419910" y="2419910"/>
                  </a:lnTo>
                  <a:lnTo>
                    <a:pt x="0" y="24199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9" id="19"/>
            <p:cNvGrpSpPr/>
            <p:nvPr/>
          </p:nvGrpSpPr>
          <p:grpSpPr>
            <a:xfrm rot="0">
              <a:off x="2429208" y="1111350"/>
              <a:ext cx="1010587" cy="101058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1" id="21"/>
              <p:cNvSpPr txBox="true"/>
              <p:nvPr/>
            </p:nvSpPr>
            <p:spPr>
              <a:xfrm>
                <a:off x="76200" y="85725"/>
                <a:ext cx="660400" cy="650875"/>
              </a:xfrm>
              <a:prstGeom prst="rect">
                <a:avLst/>
              </a:prstGeom>
            </p:spPr>
            <p:txBody>
              <a:bodyPr anchor="ctr" rtlCol="false" tIns="50800" lIns="50800" bIns="50800" rIns="50800"/>
              <a:lstStyle/>
              <a:p>
                <a:pPr algn="ctr">
                  <a:lnSpc>
                    <a:spcPts val="1772"/>
                  </a:lnSpc>
                </a:pPr>
              </a:p>
            </p:txBody>
          </p:sp>
        </p:gr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4E0E0"/>
        </a:solidFill>
      </p:bgPr>
    </p:bg>
    <p:spTree>
      <p:nvGrpSpPr>
        <p:cNvPr id="1" name=""/>
        <p:cNvGrpSpPr/>
        <p:nvPr/>
      </p:nvGrpSpPr>
      <p:grpSpPr>
        <a:xfrm>
          <a:off x="0" y="0"/>
          <a:ext cx="0" cy="0"/>
          <a:chOff x="0" y="0"/>
          <a:chExt cx="0" cy="0"/>
        </a:xfrm>
      </p:grpSpPr>
      <p:sp>
        <p:nvSpPr>
          <p:cNvPr name="Freeform 2" id="2"/>
          <p:cNvSpPr/>
          <p:nvPr/>
        </p:nvSpPr>
        <p:spPr>
          <a:xfrm flipH="false" flipV="false" rot="0">
            <a:off x="9983723" y="3164232"/>
            <a:ext cx="3492552" cy="3492552"/>
          </a:xfrm>
          <a:custGeom>
            <a:avLst/>
            <a:gdLst/>
            <a:ahLst/>
            <a:cxnLst/>
            <a:rect r="r" b="b" t="t" l="l"/>
            <a:pathLst>
              <a:path h="3492552" w="3492552">
                <a:moveTo>
                  <a:pt x="0" y="0"/>
                </a:moveTo>
                <a:lnTo>
                  <a:pt x="3492553" y="0"/>
                </a:lnTo>
                <a:lnTo>
                  <a:pt x="3492553" y="3492552"/>
                </a:lnTo>
                <a:lnTo>
                  <a:pt x="0" y="34925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171098" y="-126489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724041">
            <a:off x="4851671" y="8836126"/>
            <a:ext cx="5761854" cy="5761854"/>
          </a:xfrm>
          <a:custGeom>
            <a:avLst/>
            <a:gdLst/>
            <a:ahLst/>
            <a:cxnLst/>
            <a:rect r="r" b="b" t="t" l="l"/>
            <a:pathLst>
              <a:path h="5761854" w="5761854">
                <a:moveTo>
                  <a:pt x="0" y="0"/>
                </a:moveTo>
                <a:lnTo>
                  <a:pt x="5761854" y="0"/>
                </a:lnTo>
                <a:lnTo>
                  <a:pt x="5761854" y="5761855"/>
                </a:lnTo>
                <a:lnTo>
                  <a:pt x="0" y="57618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327743" y="1718380"/>
            <a:ext cx="1453118" cy="1445852"/>
          </a:xfrm>
          <a:custGeom>
            <a:avLst/>
            <a:gdLst/>
            <a:ahLst/>
            <a:cxnLst/>
            <a:rect r="r" b="b" t="t" l="l"/>
            <a:pathLst>
              <a:path h="1445852" w="1453118">
                <a:moveTo>
                  <a:pt x="0" y="0"/>
                </a:moveTo>
                <a:lnTo>
                  <a:pt x="1453117" y="0"/>
                </a:lnTo>
                <a:lnTo>
                  <a:pt x="1453117" y="1445852"/>
                </a:lnTo>
                <a:lnTo>
                  <a:pt x="0" y="14458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5400000">
            <a:off x="1245240" y="-239642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3476276" y="4910508"/>
            <a:ext cx="4135477" cy="4114800"/>
          </a:xfrm>
          <a:custGeom>
            <a:avLst/>
            <a:gdLst/>
            <a:ahLst/>
            <a:cxnLst/>
            <a:rect r="r" b="b" t="t" l="l"/>
            <a:pathLst>
              <a:path h="4114800" w="4135477">
                <a:moveTo>
                  <a:pt x="0" y="0"/>
                </a:moveTo>
                <a:lnTo>
                  <a:pt x="4135477" y="0"/>
                </a:lnTo>
                <a:lnTo>
                  <a:pt x="413547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547627" y="5971520"/>
            <a:ext cx="1992776" cy="1992776"/>
          </a:xfrm>
          <a:custGeom>
            <a:avLst/>
            <a:gdLst/>
            <a:ahLst/>
            <a:cxnLst/>
            <a:rect r="r" b="b" t="t" l="l"/>
            <a:pathLst>
              <a:path h="1992776" w="1992776">
                <a:moveTo>
                  <a:pt x="0" y="0"/>
                </a:moveTo>
                <a:lnTo>
                  <a:pt x="1992775" y="0"/>
                </a:lnTo>
                <a:lnTo>
                  <a:pt x="1992775" y="1992776"/>
                </a:lnTo>
                <a:lnTo>
                  <a:pt x="0" y="19927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964076" y="7581374"/>
            <a:ext cx="1992776" cy="1992776"/>
          </a:xfrm>
          <a:custGeom>
            <a:avLst/>
            <a:gdLst/>
            <a:ahLst/>
            <a:cxnLst/>
            <a:rect r="r" b="b" t="t" l="l"/>
            <a:pathLst>
              <a:path h="1992776" w="1992776">
                <a:moveTo>
                  <a:pt x="0" y="0"/>
                </a:moveTo>
                <a:lnTo>
                  <a:pt x="1992776" y="0"/>
                </a:lnTo>
                <a:lnTo>
                  <a:pt x="1992776" y="1992776"/>
                </a:lnTo>
                <a:lnTo>
                  <a:pt x="0" y="19927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1028700" y="3666854"/>
            <a:ext cx="8332776" cy="2743741"/>
          </a:xfrm>
          <a:prstGeom prst="rect">
            <a:avLst/>
          </a:prstGeom>
        </p:spPr>
        <p:txBody>
          <a:bodyPr anchor="t" rtlCol="false" tIns="0" lIns="0" bIns="0" rIns="0">
            <a:spAutoFit/>
          </a:bodyPr>
          <a:lstStyle/>
          <a:p>
            <a:pPr algn="l">
              <a:lnSpc>
                <a:spcPts val="5572"/>
              </a:lnSpc>
            </a:pPr>
            <a:r>
              <a:rPr lang="en-US" sz="2772">
                <a:solidFill>
                  <a:srgbClr val="000000"/>
                </a:solidFill>
                <a:latin typeface="Noto Sans"/>
                <a:ea typeface="Noto Sans"/>
                <a:cs typeface="Noto Sans"/>
                <a:sym typeface="Noto Sans"/>
              </a:rPr>
              <a:t>Primary colors are the building blocks of color theory. They cannot be created by mixing other colors and are the foundation for all other colors. The primary colors are </a:t>
            </a:r>
            <a:r>
              <a:rPr lang="en-US" sz="2772" b="true">
                <a:solidFill>
                  <a:srgbClr val="000000"/>
                </a:solidFill>
                <a:latin typeface="Noto Sans Bold"/>
                <a:ea typeface="Noto Sans Bold"/>
                <a:cs typeface="Noto Sans Bold"/>
                <a:sym typeface="Noto Sans Bold"/>
              </a:rPr>
              <a:t>red, blue, and yellow</a:t>
            </a:r>
          </a:p>
        </p:txBody>
      </p:sp>
      <p:sp>
        <p:nvSpPr>
          <p:cNvPr name="TextBox 11" id="11"/>
          <p:cNvSpPr txBox="true"/>
          <p:nvPr/>
        </p:nvSpPr>
        <p:spPr>
          <a:xfrm rot="0">
            <a:off x="1028700" y="2083676"/>
            <a:ext cx="8662680" cy="1024693"/>
          </a:xfrm>
          <a:prstGeom prst="rect">
            <a:avLst/>
          </a:prstGeom>
        </p:spPr>
        <p:txBody>
          <a:bodyPr anchor="t" rtlCol="false" tIns="0" lIns="0" bIns="0" rIns="0">
            <a:spAutoFit/>
          </a:bodyPr>
          <a:lstStyle/>
          <a:p>
            <a:pPr algn="l">
              <a:lnSpc>
                <a:spcPts val="8383"/>
              </a:lnSpc>
              <a:spcBef>
                <a:spcPct val="0"/>
              </a:spcBef>
            </a:pPr>
            <a:r>
              <a:rPr lang="en-US" b="true" sz="6210" i="true">
                <a:solidFill>
                  <a:srgbClr val="000000"/>
                </a:solidFill>
                <a:latin typeface="Noto Serif Bold Italics"/>
                <a:ea typeface="Noto Serif Bold Italics"/>
                <a:cs typeface="Noto Serif Bold Italics"/>
                <a:sym typeface="Noto Serif Bold Italics"/>
              </a:rPr>
              <a:t>Primary Colors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4E0E0"/>
        </a:solidFill>
      </p:bgPr>
    </p:bg>
    <p:spTree>
      <p:nvGrpSpPr>
        <p:cNvPr id="1" name=""/>
        <p:cNvGrpSpPr/>
        <p:nvPr/>
      </p:nvGrpSpPr>
      <p:grpSpPr>
        <a:xfrm>
          <a:off x="0" y="0"/>
          <a:ext cx="0" cy="0"/>
          <a:chOff x="0" y="0"/>
          <a:chExt cx="0" cy="0"/>
        </a:xfrm>
      </p:grpSpPr>
      <p:sp>
        <p:nvSpPr>
          <p:cNvPr name="Freeform 2" id="2"/>
          <p:cNvSpPr/>
          <p:nvPr/>
        </p:nvSpPr>
        <p:spPr>
          <a:xfrm flipH="false" flipV="false" rot="0">
            <a:off x="13623152" y="3980610"/>
            <a:ext cx="3242560" cy="3242560"/>
          </a:xfrm>
          <a:custGeom>
            <a:avLst/>
            <a:gdLst/>
            <a:ahLst/>
            <a:cxnLst/>
            <a:rect r="r" b="b" t="t" l="l"/>
            <a:pathLst>
              <a:path h="3242560" w="3242560">
                <a:moveTo>
                  <a:pt x="0" y="0"/>
                </a:moveTo>
                <a:lnTo>
                  <a:pt x="3242560" y="0"/>
                </a:lnTo>
                <a:lnTo>
                  <a:pt x="3242560" y="3242560"/>
                </a:lnTo>
                <a:lnTo>
                  <a:pt x="0" y="32425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99626" y="-904236"/>
            <a:ext cx="2444806" cy="2444806"/>
          </a:xfrm>
          <a:custGeom>
            <a:avLst/>
            <a:gdLst/>
            <a:ahLst/>
            <a:cxnLst/>
            <a:rect r="r" b="b" t="t" l="l"/>
            <a:pathLst>
              <a:path h="2444806" w="2444806">
                <a:moveTo>
                  <a:pt x="0" y="0"/>
                </a:moveTo>
                <a:lnTo>
                  <a:pt x="2444806" y="0"/>
                </a:lnTo>
                <a:lnTo>
                  <a:pt x="2444806" y="2444806"/>
                </a:lnTo>
                <a:lnTo>
                  <a:pt x="0" y="24448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827909" y="4610986"/>
            <a:ext cx="1094760" cy="1094760"/>
          </a:xfrm>
          <a:custGeom>
            <a:avLst/>
            <a:gdLst/>
            <a:ahLst/>
            <a:cxnLst/>
            <a:rect r="r" b="b" t="t" l="l"/>
            <a:pathLst>
              <a:path h="1094760" w="1094760">
                <a:moveTo>
                  <a:pt x="0" y="0"/>
                </a:moveTo>
                <a:lnTo>
                  <a:pt x="1094760" y="0"/>
                </a:lnTo>
                <a:lnTo>
                  <a:pt x="1094760" y="1094760"/>
                </a:lnTo>
                <a:lnTo>
                  <a:pt x="0" y="10947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43667" y="982070"/>
            <a:ext cx="4550878" cy="4528123"/>
          </a:xfrm>
          <a:custGeom>
            <a:avLst/>
            <a:gdLst/>
            <a:ahLst/>
            <a:cxnLst/>
            <a:rect r="r" b="b" t="t" l="l"/>
            <a:pathLst>
              <a:path h="4528123" w="4550878">
                <a:moveTo>
                  <a:pt x="0" y="0"/>
                </a:moveTo>
                <a:lnTo>
                  <a:pt x="4550878" y="0"/>
                </a:lnTo>
                <a:lnTo>
                  <a:pt x="4550878" y="4528123"/>
                </a:lnTo>
                <a:lnTo>
                  <a:pt x="0" y="45281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11998" y="8601346"/>
            <a:ext cx="3255807" cy="3239528"/>
          </a:xfrm>
          <a:custGeom>
            <a:avLst/>
            <a:gdLst/>
            <a:ahLst/>
            <a:cxnLst/>
            <a:rect r="r" b="b" t="t" l="l"/>
            <a:pathLst>
              <a:path h="3239528" w="3255807">
                <a:moveTo>
                  <a:pt x="0" y="0"/>
                </a:moveTo>
                <a:lnTo>
                  <a:pt x="3255807" y="0"/>
                </a:lnTo>
                <a:lnTo>
                  <a:pt x="3255807" y="3239528"/>
                </a:lnTo>
                <a:lnTo>
                  <a:pt x="0" y="32395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43667" y="6071741"/>
            <a:ext cx="2876957" cy="2876957"/>
          </a:xfrm>
          <a:custGeom>
            <a:avLst/>
            <a:gdLst/>
            <a:ahLst/>
            <a:cxnLst/>
            <a:rect r="r" b="b" t="t" l="l"/>
            <a:pathLst>
              <a:path h="2876957" w="2876957">
                <a:moveTo>
                  <a:pt x="0" y="0"/>
                </a:moveTo>
                <a:lnTo>
                  <a:pt x="2876957" y="0"/>
                </a:lnTo>
                <a:lnTo>
                  <a:pt x="2876957" y="2876956"/>
                </a:lnTo>
                <a:lnTo>
                  <a:pt x="0" y="28769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734583" y="-1144999"/>
            <a:ext cx="2127069" cy="2127069"/>
          </a:xfrm>
          <a:custGeom>
            <a:avLst/>
            <a:gdLst/>
            <a:ahLst/>
            <a:cxnLst/>
            <a:rect r="r" b="b" t="t" l="l"/>
            <a:pathLst>
              <a:path h="2127069" w="2127069">
                <a:moveTo>
                  <a:pt x="0" y="0"/>
                </a:moveTo>
                <a:lnTo>
                  <a:pt x="2127069" y="0"/>
                </a:lnTo>
                <a:lnTo>
                  <a:pt x="2127069" y="2127069"/>
                </a:lnTo>
                <a:lnTo>
                  <a:pt x="0" y="21270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1028700" y="3666854"/>
            <a:ext cx="7478210" cy="2038891"/>
          </a:xfrm>
          <a:prstGeom prst="rect">
            <a:avLst/>
          </a:prstGeom>
        </p:spPr>
        <p:txBody>
          <a:bodyPr anchor="t" rtlCol="false" tIns="0" lIns="0" bIns="0" rIns="0">
            <a:spAutoFit/>
          </a:bodyPr>
          <a:lstStyle/>
          <a:p>
            <a:pPr algn="l">
              <a:lnSpc>
                <a:spcPts val="5572"/>
              </a:lnSpc>
            </a:pPr>
            <a:r>
              <a:rPr lang="en-US" sz="2772">
                <a:solidFill>
                  <a:srgbClr val="000000"/>
                </a:solidFill>
                <a:latin typeface="Noto Sans"/>
                <a:ea typeface="Noto Sans"/>
                <a:cs typeface="Noto Sans"/>
                <a:sym typeface="Noto Sans"/>
              </a:rPr>
              <a:t>Secondary colors are created by mixing two primary colors together. The secondary colors are </a:t>
            </a:r>
            <a:r>
              <a:rPr lang="en-US" sz="2772" b="true">
                <a:solidFill>
                  <a:srgbClr val="000000"/>
                </a:solidFill>
                <a:latin typeface="Noto Sans Bold"/>
                <a:ea typeface="Noto Sans Bold"/>
                <a:cs typeface="Noto Sans Bold"/>
                <a:sym typeface="Noto Sans Bold"/>
              </a:rPr>
              <a:t>green, orange, and purple</a:t>
            </a:r>
          </a:p>
        </p:txBody>
      </p:sp>
      <p:sp>
        <p:nvSpPr>
          <p:cNvPr name="TextBox 10" id="10"/>
          <p:cNvSpPr txBox="true"/>
          <p:nvPr/>
        </p:nvSpPr>
        <p:spPr>
          <a:xfrm rot="0">
            <a:off x="1028700" y="2083676"/>
            <a:ext cx="8662680" cy="1024693"/>
          </a:xfrm>
          <a:prstGeom prst="rect">
            <a:avLst/>
          </a:prstGeom>
        </p:spPr>
        <p:txBody>
          <a:bodyPr anchor="t" rtlCol="false" tIns="0" lIns="0" bIns="0" rIns="0">
            <a:spAutoFit/>
          </a:bodyPr>
          <a:lstStyle/>
          <a:p>
            <a:pPr algn="l">
              <a:lnSpc>
                <a:spcPts val="8383"/>
              </a:lnSpc>
              <a:spcBef>
                <a:spcPct val="0"/>
              </a:spcBef>
            </a:pPr>
            <a:r>
              <a:rPr lang="en-US" b="true" sz="6210" i="true">
                <a:solidFill>
                  <a:srgbClr val="000000"/>
                </a:solidFill>
                <a:latin typeface="Noto Serif Bold Italics"/>
                <a:ea typeface="Noto Serif Bold Italics"/>
                <a:cs typeface="Noto Serif Bold Italics"/>
                <a:sym typeface="Noto Serif Bold Italics"/>
              </a:rPr>
              <a:t>Secondary Colors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4E0E0"/>
        </a:solidFill>
      </p:bgPr>
    </p:bg>
    <p:spTree>
      <p:nvGrpSpPr>
        <p:cNvPr id="1" name=""/>
        <p:cNvGrpSpPr/>
        <p:nvPr/>
      </p:nvGrpSpPr>
      <p:grpSpPr>
        <a:xfrm>
          <a:off x="0" y="0"/>
          <a:ext cx="0" cy="0"/>
          <a:chOff x="0" y="0"/>
          <a:chExt cx="0" cy="0"/>
        </a:xfrm>
      </p:grpSpPr>
      <p:sp>
        <p:nvSpPr>
          <p:cNvPr name="Freeform 2" id="2"/>
          <p:cNvSpPr/>
          <p:nvPr/>
        </p:nvSpPr>
        <p:spPr>
          <a:xfrm flipH="false" flipV="false" rot="0">
            <a:off x="10473799" y="-902667"/>
            <a:ext cx="5391206" cy="5391206"/>
          </a:xfrm>
          <a:custGeom>
            <a:avLst/>
            <a:gdLst/>
            <a:ahLst/>
            <a:cxnLst/>
            <a:rect r="r" b="b" t="t" l="l"/>
            <a:pathLst>
              <a:path h="5391206" w="5391206">
                <a:moveTo>
                  <a:pt x="0" y="0"/>
                </a:moveTo>
                <a:lnTo>
                  <a:pt x="5391206" y="0"/>
                </a:lnTo>
                <a:lnTo>
                  <a:pt x="5391206" y="5391205"/>
                </a:lnTo>
                <a:lnTo>
                  <a:pt x="0" y="53912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937765" y="5477752"/>
            <a:ext cx="3072069" cy="3072069"/>
          </a:xfrm>
          <a:custGeom>
            <a:avLst/>
            <a:gdLst/>
            <a:ahLst/>
            <a:cxnLst/>
            <a:rect r="r" b="b" t="t" l="l"/>
            <a:pathLst>
              <a:path h="3072069" w="3072069">
                <a:moveTo>
                  <a:pt x="0" y="0"/>
                </a:moveTo>
                <a:lnTo>
                  <a:pt x="3072069" y="0"/>
                </a:lnTo>
                <a:lnTo>
                  <a:pt x="3072069" y="3072069"/>
                </a:lnTo>
                <a:lnTo>
                  <a:pt x="0" y="30720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596268" y="6012649"/>
            <a:ext cx="5649036" cy="5649036"/>
          </a:xfrm>
          <a:custGeom>
            <a:avLst/>
            <a:gdLst/>
            <a:ahLst/>
            <a:cxnLst/>
            <a:rect r="r" b="b" t="t" l="l"/>
            <a:pathLst>
              <a:path h="5649036" w="5649036">
                <a:moveTo>
                  <a:pt x="0" y="0"/>
                </a:moveTo>
                <a:lnTo>
                  <a:pt x="5649036" y="0"/>
                </a:lnTo>
                <a:lnTo>
                  <a:pt x="5649036" y="5649036"/>
                </a:lnTo>
                <a:lnTo>
                  <a:pt x="0" y="56490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3666854"/>
            <a:ext cx="6848706" cy="2743741"/>
          </a:xfrm>
          <a:prstGeom prst="rect">
            <a:avLst/>
          </a:prstGeom>
        </p:spPr>
        <p:txBody>
          <a:bodyPr anchor="t" rtlCol="false" tIns="0" lIns="0" bIns="0" rIns="0">
            <a:spAutoFit/>
          </a:bodyPr>
          <a:lstStyle/>
          <a:p>
            <a:pPr algn="l">
              <a:lnSpc>
                <a:spcPts val="5572"/>
              </a:lnSpc>
            </a:pPr>
            <a:r>
              <a:rPr lang="en-US" sz="2772">
                <a:solidFill>
                  <a:srgbClr val="000000"/>
                </a:solidFill>
                <a:latin typeface="Noto Sans"/>
                <a:ea typeface="Noto Sans"/>
                <a:cs typeface="Noto Sans"/>
                <a:sym typeface="Noto Sans"/>
              </a:rPr>
              <a:t>The color wheel is a visual representation of the relationships between colors. </a:t>
            </a:r>
          </a:p>
          <a:p>
            <a:pPr algn="l">
              <a:lnSpc>
                <a:spcPts val="5572"/>
              </a:lnSpc>
            </a:pPr>
            <a:r>
              <a:rPr lang="en-US" sz="2772">
                <a:solidFill>
                  <a:srgbClr val="000000"/>
                </a:solidFill>
                <a:latin typeface="Noto Sans"/>
                <a:ea typeface="Noto Sans"/>
                <a:cs typeface="Noto Sans"/>
                <a:sym typeface="Noto Sans"/>
              </a:rPr>
              <a:t>It is a useful tool for artists to use when selecting colors for their artwork</a:t>
            </a:r>
          </a:p>
        </p:txBody>
      </p:sp>
      <p:sp>
        <p:nvSpPr>
          <p:cNvPr name="TextBox 6" id="6"/>
          <p:cNvSpPr txBox="true"/>
          <p:nvPr/>
        </p:nvSpPr>
        <p:spPr>
          <a:xfrm rot="0">
            <a:off x="1028700" y="2083676"/>
            <a:ext cx="8662680" cy="1024693"/>
          </a:xfrm>
          <a:prstGeom prst="rect">
            <a:avLst/>
          </a:prstGeom>
        </p:spPr>
        <p:txBody>
          <a:bodyPr anchor="t" rtlCol="false" tIns="0" lIns="0" bIns="0" rIns="0">
            <a:spAutoFit/>
          </a:bodyPr>
          <a:lstStyle/>
          <a:p>
            <a:pPr algn="l">
              <a:lnSpc>
                <a:spcPts val="8383"/>
              </a:lnSpc>
              <a:spcBef>
                <a:spcPct val="0"/>
              </a:spcBef>
            </a:pPr>
            <a:r>
              <a:rPr lang="en-US" b="true" sz="6210" i="true">
                <a:solidFill>
                  <a:srgbClr val="000000"/>
                </a:solidFill>
                <a:latin typeface="Noto Serif Bold Italics"/>
                <a:ea typeface="Noto Serif Bold Italics"/>
                <a:cs typeface="Noto Serif Bold Italics"/>
                <a:sym typeface="Noto Serif Bold Italics"/>
              </a:rPr>
              <a:t>Color Wheel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4E0E0"/>
        </a:solidFill>
      </p:bgPr>
    </p:bg>
    <p:spTree>
      <p:nvGrpSpPr>
        <p:cNvPr id="1" name=""/>
        <p:cNvGrpSpPr/>
        <p:nvPr/>
      </p:nvGrpSpPr>
      <p:grpSpPr>
        <a:xfrm>
          <a:off x="0" y="0"/>
          <a:ext cx="0" cy="0"/>
          <a:chOff x="0" y="0"/>
          <a:chExt cx="0" cy="0"/>
        </a:xfrm>
      </p:grpSpPr>
      <p:sp>
        <p:nvSpPr>
          <p:cNvPr name="Freeform 2" id="2"/>
          <p:cNvSpPr/>
          <p:nvPr/>
        </p:nvSpPr>
        <p:spPr>
          <a:xfrm flipH="false" flipV="false" rot="0">
            <a:off x="12572569" y="5231617"/>
            <a:ext cx="8063445" cy="8053366"/>
          </a:xfrm>
          <a:custGeom>
            <a:avLst/>
            <a:gdLst/>
            <a:ahLst/>
            <a:cxnLst/>
            <a:rect r="r" b="b" t="t" l="l"/>
            <a:pathLst>
              <a:path h="8053366" w="8063445">
                <a:moveTo>
                  <a:pt x="0" y="0"/>
                </a:moveTo>
                <a:lnTo>
                  <a:pt x="8063445" y="0"/>
                </a:lnTo>
                <a:lnTo>
                  <a:pt x="8063445" y="8053366"/>
                </a:lnTo>
                <a:lnTo>
                  <a:pt x="0" y="80533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099183" y="-3946527"/>
            <a:ext cx="6115929" cy="6115929"/>
          </a:xfrm>
          <a:custGeom>
            <a:avLst/>
            <a:gdLst/>
            <a:ahLst/>
            <a:cxnLst/>
            <a:rect r="r" b="b" t="t" l="l"/>
            <a:pathLst>
              <a:path h="6115929" w="6115929">
                <a:moveTo>
                  <a:pt x="0" y="0"/>
                </a:moveTo>
                <a:lnTo>
                  <a:pt x="6115928" y="0"/>
                </a:lnTo>
                <a:lnTo>
                  <a:pt x="6115928" y="6115928"/>
                </a:lnTo>
                <a:lnTo>
                  <a:pt x="0" y="61159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3666854"/>
            <a:ext cx="6848706" cy="3448591"/>
          </a:xfrm>
          <a:prstGeom prst="rect">
            <a:avLst/>
          </a:prstGeom>
        </p:spPr>
        <p:txBody>
          <a:bodyPr anchor="t" rtlCol="false" tIns="0" lIns="0" bIns="0" rIns="0">
            <a:spAutoFit/>
          </a:bodyPr>
          <a:lstStyle/>
          <a:p>
            <a:pPr algn="l">
              <a:lnSpc>
                <a:spcPts val="5572"/>
              </a:lnSpc>
            </a:pPr>
            <a:r>
              <a:rPr lang="en-US" sz="2772">
                <a:solidFill>
                  <a:srgbClr val="000000"/>
                </a:solidFill>
                <a:latin typeface="Noto Sans"/>
                <a:ea typeface="Noto Sans"/>
                <a:cs typeface="Noto Sans"/>
                <a:sym typeface="Noto Sans"/>
              </a:rPr>
              <a:t>Color harmony is the use of color combinations that are visually appealing and pleasing to the eye. It involves selecting colors that work well together and complement each other</a:t>
            </a:r>
          </a:p>
        </p:txBody>
      </p:sp>
      <p:sp>
        <p:nvSpPr>
          <p:cNvPr name="TextBox 5" id="5"/>
          <p:cNvSpPr txBox="true"/>
          <p:nvPr/>
        </p:nvSpPr>
        <p:spPr>
          <a:xfrm rot="0">
            <a:off x="1028700" y="2083676"/>
            <a:ext cx="8662680" cy="1024693"/>
          </a:xfrm>
          <a:prstGeom prst="rect">
            <a:avLst/>
          </a:prstGeom>
        </p:spPr>
        <p:txBody>
          <a:bodyPr anchor="t" rtlCol="false" tIns="0" lIns="0" bIns="0" rIns="0">
            <a:spAutoFit/>
          </a:bodyPr>
          <a:lstStyle/>
          <a:p>
            <a:pPr algn="l">
              <a:lnSpc>
                <a:spcPts val="8383"/>
              </a:lnSpc>
              <a:spcBef>
                <a:spcPct val="0"/>
              </a:spcBef>
            </a:pPr>
            <a:r>
              <a:rPr lang="en-US" b="true" sz="6210" i="true">
                <a:solidFill>
                  <a:srgbClr val="000000"/>
                </a:solidFill>
                <a:latin typeface="Noto Serif Bold Italics"/>
                <a:ea typeface="Noto Serif Bold Italics"/>
                <a:cs typeface="Noto Serif Bold Italics"/>
                <a:sym typeface="Noto Serif Bold Italics"/>
              </a:rPr>
              <a:t>Color Harmony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4E0E0"/>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216940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25310" y="515602"/>
            <a:ext cx="2605797" cy="2592768"/>
          </a:xfrm>
          <a:custGeom>
            <a:avLst/>
            <a:gdLst/>
            <a:ahLst/>
            <a:cxnLst/>
            <a:rect r="r" b="b" t="t" l="l"/>
            <a:pathLst>
              <a:path h="2592768" w="2605797">
                <a:moveTo>
                  <a:pt x="0" y="0"/>
                </a:moveTo>
                <a:lnTo>
                  <a:pt x="2605797" y="0"/>
                </a:lnTo>
                <a:lnTo>
                  <a:pt x="2605797" y="2592768"/>
                </a:lnTo>
                <a:lnTo>
                  <a:pt x="0" y="25927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051239" y="4733661"/>
            <a:ext cx="4559736" cy="4536937"/>
          </a:xfrm>
          <a:custGeom>
            <a:avLst/>
            <a:gdLst/>
            <a:ahLst/>
            <a:cxnLst/>
            <a:rect r="r" b="b" t="t" l="l"/>
            <a:pathLst>
              <a:path h="4536937" w="4559736">
                <a:moveTo>
                  <a:pt x="0" y="0"/>
                </a:moveTo>
                <a:lnTo>
                  <a:pt x="4559736" y="0"/>
                </a:lnTo>
                <a:lnTo>
                  <a:pt x="4559736" y="4536937"/>
                </a:lnTo>
                <a:lnTo>
                  <a:pt x="0" y="45369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761800">
            <a:off x="1244248" y="8612333"/>
            <a:ext cx="4559736" cy="4536937"/>
          </a:xfrm>
          <a:custGeom>
            <a:avLst/>
            <a:gdLst/>
            <a:ahLst/>
            <a:cxnLst/>
            <a:rect r="r" b="b" t="t" l="l"/>
            <a:pathLst>
              <a:path h="4536937" w="4559736">
                <a:moveTo>
                  <a:pt x="0" y="0"/>
                </a:moveTo>
                <a:lnTo>
                  <a:pt x="4559736" y="0"/>
                </a:lnTo>
                <a:lnTo>
                  <a:pt x="4559736" y="4536937"/>
                </a:lnTo>
                <a:lnTo>
                  <a:pt x="0" y="45369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66716" y="-2716924"/>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962329">
            <a:off x="16810063" y="7621385"/>
            <a:ext cx="2084566" cy="2084566"/>
          </a:xfrm>
          <a:custGeom>
            <a:avLst/>
            <a:gdLst/>
            <a:ahLst/>
            <a:cxnLst/>
            <a:rect r="r" b="b" t="t" l="l"/>
            <a:pathLst>
              <a:path h="2084566" w="2084566">
                <a:moveTo>
                  <a:pt x="0" y="0"/>
                </a:moveTo>
                <a:lnTo>
                  <a:pt x="2084566" y="0"/>
                </a:lnTo>
                <a:lnTo>
                  <a:pt x="2084566" y="2084566"/>
                </a:lnTo>
                <a:lnTo>
                  <a:pt x="0" y="2084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028700" y="3666854"/>
            <a:ext cx="7155059" cy="2038891"/>
          </a:xfrm>
          <a:prstGeom prst="rect">
            <a:avLst/>
          </a:prstGeom>
        </p:spPr>
        <p:txBody>
          <a:bodyPr anchor="t" rtlCol="false" tIns="0" lIns="0" bIns="0" rIns="0">
            <a:spAutoFit/>
          </a:bodyPr>
          <a:lstStyle/>
          <a:p>
            <a:pPr algn="l">
              <a:lnSpc>
                <a:spcPts val="5572"/>
              </a:lnSpc>
            </a:pPr>
            <a:r>
              <a:rPr lang="en-US" sz="2772">
                <a:solidFill>
                  <a:srgbClr val="000000"/>
                </a:solidFill>
                <a:latin typeface="Noto Sans"/>
                <a:ea typeface="Noto Sans"/>
                <a:cs typeface="Noto Sans"/>
                <a:sym typeface="Noto Sans"/>
              </a:rPr>
              <a:t>Warm colors are colors that evoke feelings of warmth, energy, and excitement. </a:t>
            </a:r>
          </a:p>
          <a:p>
            <a:pPr algn="l">
              <a:lnSpc>
                <a:spcPts val="5572"/>
              </a:lnSpc>
            </a:pPr>
            <a:r>
              <a:rPr lang="en-US" sz="2772">
                <a:solidFill>
                  <a:srgbClr val="000000"/>
                </a:solidFill>
                <a:latin typeface="Noto Sans"/>
                <a:ea typeface="Noto Sans"/>
                <a:cs typeface="Noto Sans"/>
                <a:sym typeface="Noto Sans"/>
              </a:rPr>
              <a:t>They include </a:t>
            </a:r>
            <a:r>
              <a:rPr lang="en-US" sz="2772" b="true">
                <a:solidFill>
                  <a:srgbClr val="000000"/>
                </a:solidFill>
                <a:latin typeface="Noto Sans Bold"/>
                <a:ea typeface="Noto Sans Bold"/>
                <a:cs typeface="Noto Sans Bold"/>
                <a:sym typeface="Noto Sans Bold"/>
              </a:rPr>
              <a:t>reds, oranges, and yellows</a:t>
            </a:r>
          </a:p>
        </p:txBody>
      </p:sp>
      <p:sp>
        <p:nvSpPr>
          <p:cNvPr name="TextBox 9" id="9"/>
          <p:cNvSpPr txBox="true"/>
          <p:nvPr/>
        </p:nvSpPr>
        <p:spPr>
          <a:xfrm rot="0">
            <a:off x="1028700" y="2083676"/>
            <a:ext cx="8662680" cy="1024693"/>
          </a:xfrm>
          <a:prstGeom prst="rect">
            <a:avLst/>
          </a:prstGeom>
        </p:spPr>
        <p:txBody>
          <a:bodyPr anchor="t" rtlCol="false" tIns="0" lIns="0" bIns="0" rIns="0">
            <a:spAutoFit/>
          </a:bodyPr>
          <a:lstStyle/>
          <a:p>
            <a:pPr algn="l">
              <a:lnSpc>
                <a:spcPts val="8383"/>
              </a:lnSpc>
              <a:spcBef>
                <a:spcPct val="0"/>
              </a:spcBef>
            </a:pPr>
            <a:r>
              <a:rPr lang="en-US" b="true" sz="6210" i="true">
                <a:solidFill>
                  <a:srgbClr val="000000"/>
                </a:solidFill>
                <a:latin typeface="Noto Serif Bold Italics"/>
                <a:ea typeface="Noto Serif Bold Italics"/>
                <a:cs typeface="Noto Serif Bold Italics"/>
                <a:sym typeface="Noto Serif Bold Italics"/>
              </a:rPr>
              <a:t>Warm Colors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4E0E0"/>
        </a:solidFill>
      </p:bgPr>
    </p:bg>
    <p:spTree>
      <p:nvGrpSpPr>
        <p:cNvPr id="1" name=""/>
        <p:cNvGrpSpPr/>
        <p:nvPr/>
      </p:nvGrpSpPr>
      <p:grpSpPr>
        <a:xfrm>
          <a:off x="0" y="0"/>
          <a:ext cx="0" cy="0"/>
          <a:chOff x="0" y="0"/>
          <a:chExt cx="0" cy="0"/>
        </a:xfrm>
      </p:grpSpPr>
      <p:sp>
        <p:nvSpPr>
          <p:cNvPr name="Freeform 2" id="2"/>
          <p:cNvSpPr/>
          <p:nvPr/>
        </p:nvSpPr>
        <p:spPr>
          <a:xfrm flipH="false" flipV="false" rot="0">
            <a:off x="14610151" y="364834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138412" y="4458236"/>
            <a:ext cx="1370528" cy="1370528"/>
          </a:xfrm>
          <a:custGeom>
            <a:avLst/>
            <a:gdLst/>
            <a:ahLst/>
            <a:cxnLst/>
            <a:rect r="r" b="b" t="t" l="l"/>
            <a:pathLst>
              <a:path h="1370528" w="1370528">
                <a:moveTo>
                  <a:pt x="0" y="0"/>
                </a:moveTo>
                <a:lnTo>
                  <a:pt x="1370528" y="0"/>
                </a:lnTo>
                <a:lnTo>
                  <a:pt x="1370528" y="1370528"/>
                </a:lnTo>
                <a:lnTo>
                  <a:pt x="0" y="13705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914245">
            <a:off x="9691380" y="-2285094"/>
            <a:ext cx="4570189" cy="4570189"/>
          </a:xfrm>
          <a:custGeom>
            <a:avLst/>
            <a:gdLst/>
            <a:ahLst/>
            <a:cxnLst/>
            <a:rect r="r" b="b" t="t" l="l"/>
            <a:pathLst>
              <a:path h="4570189" w="4570189">
                <a:moveTo>
                  <a:pt x="0" y="0"/>
                </a:moveTo>
                <a:lnTo>
                  <a:pt x="4570189" y="0"/>
                </a:lnTo>
                <a:lnTo>
                  <a:pt x="4570189" y="4570188"/>
                </a:lnTo>
                <a:lnTo>
                  <a:pt x="0" y="45701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914245">
            <a:off x="1400310" y="7190008"/>
            <a:ext cx="1647317" cy="1647317"/>
          </a:xfrm>
          <a:custGeom>
            <a:avLst/>
            <a:gdLst/>
            <a:ahLst/>
            <a:cxnLst/>
            <a:rect r="r" b="b" t="t" l="l"/>
            <a:pathLst>
              <a:path h="1647317" w="1647317">
                <a:moveTo>
                  <a:pt x="0" y="0"/>
                </a:moveTo>
                <a:lnTo>
                  <a:pt x="1647317" y="0"/>
                </a:lnTo>
                <a:lnTo>
                  <a:pt x="1647317" y="1647318"/>
                </a:lnTo>
                <a:lnTo>
                  <a:pt x="0" y="16473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914245">
            <a:off x="12525646" y="5578714"/>
            <a:ext cx="2995483" cy="2995483"/>
          </a:xfrm>
          <a:custGeom>
            <a:avLst/>
            <a:gdLst/>
            <a:ahLst/>
            <a:cxnLst/>
            <a:rect r="r" b="b" t="t" l="l"/>
            <a:pathLst>
              <a:path h="2995483" w="2995483">
                <a:moveTo>
                  <a:pt x="0" y="0"/>
                </a:moveTo>
                <a:lnTo>
                  <a:pt x="2995484" y="0"/>
                </a:lnTo>
                <a:lnTo>
                  <a:pt x="2995484" y="2995483"/>
                </a:lnTo>
                <a:lnTo>
                  <a:pt x="0" y="29954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064148" y="8950878"/>
            <a:ext cx="5627232" cy="5627232"/>
          </a:xfrm>
          <a:custGeom>
            <a:avLst/>
            <a:gdLst/>
            <a:ahLst/>
            <a:cxnLst/>
            <a:rect r="r" b="b" t="t" l="l"/>
            <a:pathLst>
              <a:path h="5627232" w="5627232">
                <a:moveTo>
                  <a:pt x="0" y="0"/>
                </a:moveTo>
                <a:lnTo>
                  <a:pt x="5627232" y="0"/>
                </a:lnTo>
                <a:lnTo>
                  <a:pt x="5627232" y="5627232"/>
                </a:lnTo>
                <a:lnTo>
                  <a:pt x="0" y="5627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4851553">
            <a:off x="3461893" y="-306578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6447052" y="-2057400"/>
            <a:ext cx="6454588" cy="4114800"/>
          </a:xfrm>
          <a:custGeom>
            <a:avLst/>
            <a:gdLst/>
            <a:ahLst/>
            <a:cxnLst/>
            <a:rect r="r" b="b" t="t" l="l"/>
            <a:pathLst>
              <a:path h="4114800" w="6454588">
                <a:moveTo>
                  <a:pt x="0" y="0"/>
                </a:moveTo>
                <a:lnTo>
                  <a:pt x="6454588" y="0"/>
                </a:lnTo>
                <a:lnTo>
                  <a:pt x="645458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1028700" y="3666854"/>
            <a:ext cx="6848706" cy="2038891"/>
          </a:xfrm>
          <a:prstGeom prst="rect">
            <a:avLst/>
          </a:prstGeom>
        </p:spPr>
        <p:txBody>
          <a:bodyPr anchor="t" rtlCol="false" tIns="0" lIns="0" bIns="0" rIns="0">
            <a:spAutoFit/>
          </a:bodyPr>
          <a:lstStyle/>
          <a:p>
            <a:pPr algn="l">
              <a:lnSpc>
                <a:spcPts val="5572"/>
              </a:lnSpc>
            </a:pPr>
            <a:r>
              <a:rPr lang="en-US" sz="2772">
                <a:solidFill>
                  <a:srgbClr val="000000"/>
                </a:solidFill>
                <a:latin typeface="Noto Sans"/>
                <a:ea typeface="Noto Sans"/>
                <a:cs typeface="Noto Sans"/>
                <a:sym typeface="Noto Sans"/>
              </a:rPr>
              <a:t>Cool colors are colors that evoke feelings of calmness, relaxation, and tranquility. They include </a:t>
            </a:r>
            <a:r>
              <a:rPr lang="en-US" sz="2772" b="true">
                <a:solidFill>
                  <a:srgbClr val="000000"/>
                </a:solidFill>
                <a:latin typeface="Noto Sans Bold"/>
                <a:ea typeface="Noto Sans Bold"/>
                <a:cs typeface="Noto Sans Bold"/>
                <a:sym typeface="Noto Sans Bold"/>
              </a:rPr>
              <a:t>blues, greens, and purples</a:t>
            </a:r>
          </a:p>
        </p:txBody>
      </p:sp>
      <p:sp>
        <p:nvSpPr>
          <p:cNvPr name="TextBox 11" id="11"/>
          <p:cNvSpPr txBox="true"/>
          <p:nvPr/>
        </p:nvSpPr>
        <p:spPr>
          <a:xfrm rot="0">
            <a:off x="1028700" y="2083676"/>
            <a:ext cx="8662680" cy="1024693"/>
          </a:xfrm>
          <a:prstGeom prst="rect">
            <a:avLst/>
          </a:prstGeom>
        </p:spPr>
        <p:txBody>
          <a:bodyPr anchor="t" rtlCol="false" tIns="0" lIns="0" bIns="0" rIns="0">
            <a:spAutoFit/>
          </a:bodyPr>
          <a:lstStyle/>
          <a:p>
            <a:pPr algn="l">
              <a:lnSpc>
                <a:spcPts val="8383"/>
              </a:lnSpc>
              <a:spcBef>
                <a:spcPct val="0"/>
              </a:spcBef>
            </a:pPr>
            <a:r>
              <a:rPr lang="en-US" b="true" sz="6210" i="true">
                <a:solidFill>
                  <a:srgbClr val="000000"/>
                </a:solidFill>
                <a:latin typeface="Noto Serif Bold Italics"/>
                <a:ea typeface="Noto Serif Bold Italics"/>
                <a:cs typeface="Noto Serif Bold Italics"/>
                <a:sym typeface="Noto Serif Bold Italics"/>
              </a:rPr>
              <a:t>Cool Colors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4E0E0"/>
        </a:solidFill>
      </p:bgPr>
    </p:bg>
    <p:spTree>
      <p:nvGrpSpPr>
        <p:cNvPr id="1" name=""/>
        <p:cNvGrpSpPr/>
        <p:nvPr/>
      </p:nvGrpSpPr>
      <p:grpSpPr>
        <a:xfrm>
          <a:off x="0" y="0"/>
          <a:ext cx="0" cy="0"/>
          <a:chOff x="0" y="0"/>
          <a:chExt cx="0" cy="0"/>
        </a:xfrm>
      </p:grpSpPr>
      <p:sp>
        <p:nvSpPr>
          <p:cNvPr name="TextBox 2" id="2"/>
          <p:cNvSpPr txBox="true"/>
          <p:nvPr/>
        </p:nvSpPr>
        <p:spPr>
          <a:xfrm rot="0">
            <a:off x="1028700" y="3666854"/>
            <a:ext cx="7793114" cy="2743741"/>
          </a:xfrm>
          <a:prstGeom prst="rect">
            <a:avLst/>
          </a:prstGeom>
        </p:spPr>
        <p:txBody>
          <a:bodyPr anchor="t" rtlCol="false" tIns="0" lIns="0" bIns="0" rIns="0">
            <a:spAutoFit/>
          </a:bodyPr>
          <a:lstStyle/>
          <a:p>
            <a:pPr algn="l">
              <a:lnSpc>
                <a:spcPts val="5572"/>
              </a:lnSpc>
            </a:pPr>
            <a:r>
              <a:rPr lang="en-US" sz="2772">
                <a:solidFill>
                  <a:srgbClr val="000000"/>
                </a:solidFill>
                <a:latin typeface="Noto Sans"/>
                <a:ea typeface="Noto Sans"/>
                <a:cs typeface="Noto Sans"/>
                <a:sym typeface="Noto Sans"/>
              </a:rPr>
              <a:t>Complementary colors are colors that are opposite each other on the color wheel. </a:t>
            </a:r>
          </a:p>
          <a:p>
            <a:pPr algn="l">
              <a:lnSpc>
                <a:spcPts val="5572"/>
              </a:lnSpc>
            </a:pPr>
            <a:r>
              <a:rPr lang="en-US" sz="2772">
                <a:solidFill>
                  <a:srgbClr val="000000"/>
                </a:solidFill>
                <a:latin typeface="Noto Sans"/>
                <a:ea typeface="Noto Sans"/>
                <a:cs typeface="Noto Sans"/>
                <a:sym typeface="Noto Sans"/>
              </a:rPr>
              <a:t>They create a high contrast and can be used to create a focal point in artwork</a:t>
            </a:r>
          </a:p>
        </p:txBody>
      </p:sp>
      <p:sp>
        <p:nvSpPr>
          <p:cNvPr name="TextBox 3" id="3"/>
          <p:cNvSpPr txBox="true"/>
          <p:nvPr/>
        </p:nvSpPr>
        <p:spPr>
          <a:xfrm rot="0">
            <a:off x="1028700" y="2083676"/>
            <a:ext cx="10956243" cy="1024693"/>
          </a:xfrm>
          <a:prstGeom prst="rect">
            <a:avLst/>
          </a:prstGeom>
        </p:spPr>
        <p:txBody>
          <a:bodyPr anchor="t" rtlCol="false" tIns="0" lIns="0" bIns="0" rIns="0">
            <a:spAutoFit/>
          </a:bodyPr>
          <a:lstStyle/>
          <a:p>
            <a:pPr algn="l">
              <a:lnSpc>
                <a:spcPts val="8383"/>
              </a:lnSpc>
              <a:spcBef>
                <a:spcPct val="0"/>
              </a:spcBef>
            </a:pPr>
            <a:r>
              <a:rPr lang="en-US" b="true" sz="6210" i="true">
                <a:solidFill>
                  <a:srgbClr val="000000"/>
                </a:solidFill>
                <a:latin typeface="Noto Serif Bold Italics"/>
                <a:ea typeface="Noto Serif Bold Italics"/>
                <a:cs typeface="Noto Serif Bold Italics"/>
                <a:sym typeface="Noto Serif Bold Italics"/>
              </a:rPr>
              <a:t>Complementary Colors</a:t>
            </a:r>
          </a:p>
        </p:txBody>
      </p:sp>
      <p:sp>
        <p:nvSpPr>
          <p:cNvPr name="Freeform 4" id="4"/>
          <p:cNvSpPr/>
          <p:nvPr/>
        </p:nvSpPr>
        <p:spPr>
          <a:xfrm flipH="false" flipV="false" rot="0">
            <a:off x="11298738" y="3427928"/>
            <a:ext cx="8169937" cy="8169937"/>
          </a:xfrm>
          <a:custGeom>
            <a:avLst/>
            <a:gdLst/>
            <a:ahLst/>
            <a:cxnLst/>
            <a:rect r="r" b="b" t="t" l="l"/>
            <a:pathLst>
              <a:path h="8169937" w="8169937">
                <a:moveTo>
                  <a:pt x="0" y="0"/>
                </a:moveTo>
                <a:lnTo>
                  <a:pt x="8169937" y="0"/>
                </a:lnTo>
                <a:lnTo>
                  <a:pt x="8169937" y="8169937"/>
                </a:lnTo>
                <a:lnTo>
                  <a:pt x="0" y="81699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205858">
            <a:off x="10408549" y="-1393700"/>
            <a:ext cx="3152787" cy="3152787"/>
          </a:xfrm>
          <a:custGeom>
            <a:avLst/>
            <a:gdLst/>
            <a:ahLst/>
            <a:cxnLst/>
            <a:rect r="r" b="b" t="t" l="l"/>
            <a:pathLst>
              <a:path h="3152787" w="3152787">
                <a:moveTo>
                  <a:pt x="0" y="0"/>
                </a:moveTo>
                <a:lnTo>
                  <a:pt x="3152787" y="0"/>
                </a:lnTo>
                <a:lnTo>
                  <a:pt x="3152787" y="3152787"/>
                </a:lnTo>
                <a:lnTo>
                  <a:pt x="0" y="31527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4E0E0"/>
        </a:solidFill>
      </p:bgPr>
    </p:bg>
    <p:spTree>
      <p:nvGrpSpPr>
        <p:cNvPr id="1" name=""/>
        <p:cNvGrpSpPr/>
        <p:nvPr/>
      </p:nvGrpSpPr>
      <p:grpSpPr>
        <a:xfrm>
          <a:off x="0" y="0"/>
          <a:ext cx="0" cy="0"/>
          <a:chOff x="0" y="0"/>
          <a:chExt cx="0" cy="0"/>
        </a:xfrm>
      </p:grpSpPr>
      <p:sp>
        <p:nvSpPr>
          <p:cNvPr name="TextBox 2" id="2"/>
          <p:cNvSpPr txBox="true"/>
          <p:nvPr/>
        </p:nvSpPr>
        <p:spPr>
          <a:xfrm rot="0">
            <a:off x="1028700" y="3666854"/>
            <a:ext cx="8662680" cy="4858291"/>
          </a:xfrm>
          <a:prstGeom prst="rect">
            <a:avLst/>
          </a:prstGeom>
        </p:spPr>
        <p:txBody>
          <a:bodyPr anchor="t" rtlCol="false" tIns="0" lIns="0" bIns="0" rIns="0">
            <a:spAutoFit/>
          </a:bodyPr>
          <a:lstStyle/>
          <a:p>
            <a:pPr algn="l">
              <a:lnSpc>
                <a:spcPts val="5572"/>
              </a:lnSpc>
            </a:pPr>
            <a:r>
              <a:rPr lang="en-US" sz="2772">
                <a:solidFill>
                  <a:srgbClr val="000000"/>
                </a:solidFill>
                <a:latin typeface="Noto Sans"/>
                <a:ea typeface="Noto Sans"/>
                <a:cs typeface="Noto Sans"/>
                <a:sym typeface="Noto Sans"/>
              </a:rPr>
              <a:t>Color theory is an important concept for artists to understand. By using the principles of color theory, artists can create visually stunning artwork that is pleasing to the eye. </a:t>
            </a:r>
          </a:p>
          <a:p>
            <a:pPr algn="l">
              <a:lnSpc>
                <a:spcPts val="5572"/>
              </a:lnSpc>
            </a:pPr>
            <a:r>
              <a:rPr lang="en-US" sz="2772">
                <a:solidFill>
                  <a:srgbClr val="000000"/>
                </a:solidFill>
                <a:latin typeface="Noto Sans"/>
                <a:ea typeface="Noto Sans"/>
                <a:cs typeface="Noto Sans"/>
                <a:sym typeface="Noto Sans"/>
              </a:rPr>
              <a:t>With practice and experimentation, artists can master the use of color in their art and create works that are truly breathtaking</a:t>
            </a:r>
          </a:p>
        </p:txBody>
      </p:sp>
      <p:sp>
        <p:nvSpPr>
          <p:cNvPr name="TextBox 3" id="3"/>
          <p:cNvSpPr txBox="true"/>
          <p:nvPr/>
        </p:nvSpPr>
        <p:spPr>
          <a:xfrm rot="0">
            <a:off x="1028700" y="2083676"/>
            <a:ext cx="8662680" cy="1024693"/>
          </a:xfrm>
          <a:prstGeom prst="rect">
            <a:avLst/>
          </a:prstGeom>
        </p:spPr>
        <p:txBody>
          <a:bodyPr anchor="t" rtlCol="false" tIns="0" lIns="0" bIns="0" rIns="0">
            <a:spAutoFit/>
          </a:bodyPr>
          <a:lstStyle/>
          <a:p>
            <a:pPr algn="l">
              <a:lnSpc>
                <a:spcPts val="8383"/>
              </a:lnSpc>
              <a:spcBef>
                <a:spcPct val="0"/>
              </a:spcBef>
            </a:pPr>
            <a:r>
              <a:rPr lang="en-US" b="true" sz="6210" i="true">
                <a:solidFill>
                  <a:srgbClr val="000000"/>
                </a:solidFill>
                <a:latin typeface="Noto Serif Bold Italics"/>
                <a:ea typeface="Noto Serif Bold Italics"/>
                <a:cs typeface="Noto Serif Bold Italics"/>
                <a:sym typeface="Noto Serif Bold Italics"/>
              </a:rPr>
              <a:t>Conclusion</a:t>
            </a:r>
          </a:p>
        </p:txBody>
      </p:sp>
      <p:sp>
        <p:nvSpPr>
          <p:cNvPr name="Freeform 4" id="4"/>
          <p:cNvSpPr/>
          <p:nvPr/>
        </p:nvSpPr>
        <p:spPr>
          <a:xfrm flipH="false" flipV="false" rot="1203518">
            <a:off x="5644953" y="-397051"/>
            <a:ext cx="14384077" cy="5412009"/>
          </a:xfrm>
          <a:custGeom>
            <a:avLst/>
            <a:gdLst/>
            <a:ahLst/>
            <a:cxnLst/>
            <a:rect r="r" b="b" t="t" l="l"/>
            <a:pathLst>
              <a:path h="5412009" w="14384077">
                <a:moveTo>
                  <a:pt x="0" y="0"/>
                </a:moveTo>
                <a:lnTo>
                  <a:pt x="14384077" y="0"/>
                </a:lnTo>
                <a:lnTo>
                  <a:pt x="14384077" y="5412009"/>
                </a:lnTo>
                <a:lnTo>
                  <a:pt x="0" y="5412009"/>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4E0E0"/>
        </a:solidFill>
      </p:bgPr>
    </p:bg>
    <p:spTree>
      <p:nvGrpSpPr>
        <p:cNvPr id="1" name=""/>
        <p:cNvGrpSpPr/>
        <p:nvPr/>
      </p:nvGrpSpPr>
      <p:grpSpPr>
        <a:xfrm>
          <a:off x="0" y="0"/>
          <a:ext cx="0" cy="0"/>
          <a:chOff x="0" y="0"/>
          <a:chExt cx="0" cy="0"/>
        </a:xfrm>
      </p:grpSpPr>
      <p:grpSp>
        <p:nvGrpSpPr>
          <p:cNvPr name="Group 2" id="2"/>
          <p:cNvGrpSpPr/>
          <p:nvPr/>
        </p:nvGrpSpPr>
        <p:grpSpPr>
          <a:xfrm rot="0">
            <a:off x="8993481" y="3028335"/>
            <a:ext cx="301038" cy="30103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E0E0"/>
            </a:solidFill>
          </p:spPr>
        </p:sp>
        <p:sp>
          <p:nvSpPr>
            <p:cNvPr name="TextBox 4" id="4"/>
            <p:cNvSpPr txBox="true"/>
            <p:nvPr/>
          </p:nvSpPr>
          <p:spPr>
            <a:xfrm>
              <a:off x="76200" y="85725"/>
              <a:ext cx="660400" cy="650875"/>
            </a:xfrm>
            <a:prstGeom prst="rect">
              <a:avLst/>
            </a:prstGeom>
          </p:spPr>
          <p:txBody>
            <a:bodyPr anchor="ctr" rtlCol="false" tIns="30803" lIns="30803" bIns="30803" rIns="30803"/>
            <a:lstStyle/>
            <a:p>
              <a:pPr algn="ctr">
                <a:lnSpc>
                  <a:spcPts val="1772"/>
                </a:lnSpc>
              </a:pPr>
            </a:p>
          </p:txBody>
        </p:sp>
      </p:grpSp>
      <p:sp>
        <p:nvSpPr>
          <p:cNvPr name="Freeform 5" id="5"/>
          <p:cNvSpPr/>
          <p:nvPr/>
        </p:nvSpPr>
        <p:spPr>
          <a:xfrm flipH="false" flipV="false" rot="0">
            <a:off x="7699816" y="1954094"/>
            <a:ext cx="3189406" cy="3189406"/>
          </a:xfrm>
          <a:custGeom>
            <a:avLst/>
            <a:gdLst/>
            <a:ahLst/>
            <a:cxnLst/>
            <a:rect r="r" b="b" t="t" l="l"/>
            <a:pathLst>
              <a:path h="3189406" w="3189406">
                <a:moveTo>
                  <a:pt x="0" y="0"/>
                </a:moveTo>
                <a:lnTo>
                  <a:pt x="3189406" y="0"/>
                </a:lnTo>
                <a:lnTo>
                  <a:pt x="3189406" y="3189406"/>
                </a:lnTo>
                <a:lnTo>
                  <a:pt x="0" y="3189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747583" y="-2731142"/>
            <a:ext cx="5645683" cy="5645683"/>
          </a:xfrm>
          <a:custGeom>
            <a:avLst/>
            <a:gdLst/>
            <a:ahLst/>
            <a:cxnLst/>
            <a:rect r="r" b="b" t="t" l="l"/>
            <a:pathLst>
              <a:path h="5645683" w="5645683">
                <a:moveTo>
                  <a:pt x="0" y="0"/>
                </a:moveTo>
                <a:lnTo>
                  <a:pt x="5645682" y="0"/>
                </a:lnTo>
                <a:lnTo>
                  <a:pt x="5645682" y="5645683"/>
                </a:lnTo>
                <a:lnTo>
                  <a:pt x="0" y="56456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763967">
            <a:off x="-2850364" y="7543552"/>
            <a:ext cx="7240539" cy="7231489"/>
          </a:xfrm>
          <a:custGeom>
            <a:avLst/>
            <a:gdLst/>
            <a:ahLst/>
            <a:cxnLst/>
            <a:rect r="r" b="b" t="t" l="l"/>
            <a:pathLst>
              <a:path h="7231489" w="7240539">
                <a:moveTo>
                  <a:pt x="0" y="0"/>
                </a:moveTo>
                <a:lnTo>
                  <a:pt x="7240540" y="0"/>
                </a:lnTo>
                <a:lnTo>
                  <a:pt x="7240540" y="7231488"/>
                </a:lnTo>
                <a:lnTo>
                  <a:pt x="0" y="72314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6223470" y="8843309"/>
            <a:ext cx="5841061" cy="225633"/>
          </a:xfrm>
          <a:prstGeom prst="rect">
            <a:avLst/>
          </a:prstGeom>
        </p:spPr>
        <p:txBody>
          <a:bodyPr anchor="t" rtlCol="false" tIns="0" lIns="0" bIns="0" rIns="0">
            <a:spAutoFit/>
          </a:bodyPr>
          <a:lstStyle/>
          <a:p>
            <a:pPr algn="ctr">
              <a:lnSpc>
                <a:spcPts val="1772"/>
              </a:lnSpc>
            </a:pPr>
            <a:r>
              <a:rPr lang="en-US" sz="1582" spc="207">
                <a:solidFill>
                  <a:srgbClr val="000000"/>
                </a:solidFill>
                <a:latin typeface="Noto Sans"/>
                <a:ea typeface="Noto Sans"/>
                <a:cs typeface="Noto Sans"/>
                <a:sym typeface="Noto Sans"/>
              </a:rPr>
              <a:t>WWW.REALLYGREATSITE.COM</a:t>
            </a:r>
          </a:p>
        </p:txBody>
      </p:sp>
      <p:sp>
        <p:nvSpPr>
          <p:cNvPr name="TextBox 9" id="9"/>
          <p:cNvSpPr txBox="true"/>
          <p:nvPr/>
        </p:nvSpPr>
        <p:spPr>
          <a:xfrm rot="0">
            <a:off x="4812660" y="5635732"/>
            <a:ext cx="8662680" cy="1024693"/>
          </a:xfrm>
          <a:prstGeom prst="rect">
            <a:avLst/>
          </a:prstGeom>
        </p:spPr>
        <p:txBody>
          <a:bodyPr anchor="t" rtlCol="false" tIns="0" lIns="0" bIns="0" rIns="0">
            <a:spAutoFit/>
          </a:bodyPr>
          <a:lstStyle/>
          <a:p>
            <a:pPr algn="ctr">
              <a:lnSpc>
                <a:spcPts val="8383"/>
              </a:lnSpc>
              <a:spcBef>
                <a:spcPct val="0"/>
              </a:spcBef>
            </a:pPr>
            <a:r>
              <a:rPr lang="en-US" b="true" sz="6210" i="true">
                <a:solidFill>
                  <a:srgbClr val="000000"/>
                </a:solidFill>
                <a:latin typeface="Noto Serif Bold Italics"/>
                <a:ea typeface="Noto Serif Bold Italics"/>
                <a:cs typeface="Noto Serif Bold Italics"/>
                <a:sym typeface="Noto Serif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DAHC01kY2E4</dc:identifier>
  <dcterms:modified xsi:type="dcterms:W3CDTF">2011-08-01T06:04:30Z</dcterms:modified>
  <cp:revision>1</cp:revision>
  <dc:title>Colorful Geometric Color Theory Presentation</dc:title>
</cp:coreProperties>
</file>